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Azeret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AzeretMono-bold.fntdata"/><Relationship Id="rId23" Type="http://schemas.openxmlformats.org/officeDocument/2006/relationships/font" Target="fonts/Azeret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zeretMono-boldItalic.fntdata"/><Relationship Id="rId25" Type="http://schemas.openxmlformats.org/officeDocument/2006/relationships/font" Target="fonts/Azeret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1093786d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1093786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23475" y="1382050"/>
            <a:ext cx="434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ISTUDIO INTERNSHIP // CAPSTONE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40705" y="1804987"/>
            <a:ext cx="4710588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PANOPTICON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90950" y="3567112"/>
            <a:ext cx="461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Intelligent Proctoring AI for Academic Integrity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619625" y="4862512"/>
            <a:ext cx="2952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NAME: ANKIT KUMAR PANDA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19625" y="5243512"/>
            <a:ext cx="29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DEPT: </a:t>
            </a:r>
            <a:r>
              <a:rPr lang="en-US" sz="1200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Artificial Intelligence Division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75838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Proctoring Noise Crisis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31083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Modern proctoring systems are "trigger-happy," blindly flagging innocent students for background noise and standard physical movements.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205930"/>
            <a:ext cx="17526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435858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 False Positive rates causing legal risks.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73958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Asynchronous data logs making merging difficult.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12058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Ethical need for precision-based classification.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887610"/>
            <a:ext cx="42105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887610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400" y="1999375"/>
            <a:ext cx="5550700" cy="3744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48655"/>
            <a:ext cx="110490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1255"/>
            <a:ext cx="54292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901255"/>
            <a:ext cx="54292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77705"/>
            <a:ext cx="54292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977705"/>
            <a:ext cx="54292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66775" y="1653480"/>
            <a:ext cx="1045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 engineered a specialized time-series pipeline to solve the "4 Deadly Traps" using advanced data merging and mathematical threshold tuning: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406080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ASYNCHRONOUS MERGING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88233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Used merge_asof to align 1Hz video gaze logs with action-based system events.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86525" y="3406080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SIGNAL SMOOTHING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86525" y="388233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Developed 10s rolling windows to filter micro-noise (sneezing) and isolate sustained trends.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5482530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 CLASS BALANCING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595878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Applied class-weights to combat the 98% innocence imbalance in student datasets.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86525" y="5482530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4. ETHICAL THRESHOLD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86525" y="5958780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Shifted the decision boundary to 90% certainty, prioritizing Precision over raw Accuracy.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310455"/>
            <a:ext cx="37904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SOLUTION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310455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1192"/>
            <a:ext cx="2547937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01192"/>
            <a:ext cx="2547937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01192"/>
            <a:ext cx="2547937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2401192"/>
            <a:ext cx="2547937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5918" y="271551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17840" y="3639442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Python 3.x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191892"/>
            <a:ext cx="1957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Core programming engine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1031" y="271551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3651527" y="3639442"/>
            <a:ext cx="205525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Pandas / NumPy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700462" y="4553842"/>
            <a:ext cx="1957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 engineering &amp; Sync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4718" y="271551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485215" y="3639442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Scikit-Learn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34150" y="4191892"/>
            <a:ext cx="1957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Random Forest Modeling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08406" y="271551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9318902" y="3639442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Matplotlib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367837" y="4191892"/>
            <a:ext cx="1957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Evaluation Visualization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887610"/>
            <a:ext cx="41805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TOOLS &amp; TECH STACK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887610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title="Screenshot 2026-06-14 143423.png"/>
          <p:cNvPicPr preferRelativeResize="0"/>
          <p:nvPr/>
        </p:nvPicPr>
        <p:blipFill rotWithShape="1">
          <a:blip r:embed="rId3">
            <a:alphaModFix/>
          </a:blip>
          <a:srcRect b="-835" l="6743" r="0" t="16511"/>
          <a:stretch/>
        </p:blipFill>
        <p:spPr>
          <a:xfrm>
            <a:off x="5733883" y="1882075"/>
            <a:ext cx="6126017" cy="342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304475" y="5454080"/>
            <a:ext cx="54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ASYNCHRONOUS TEMPORAL ALIGNMENT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008575" y="5454080"/>
            <a:ext cx="54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ROLLING WINDOW FEATURE ENGINEERING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9850" y="2558355"/>
            <a:ext cx="1352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887610"/>
            <a:ext cx="63607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SCREENSHOTS: PIPELINE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887610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 title="Screenshot 2026-06-14 143133.png"/>
          <p:cNvPicPr preferRelativeResize="0"/>
          <p:nvPr/>
        </p:nvPicPr>
        <p:blipFill rotWithShape="1">
          <a:blip r:embed="rId5">
            <a:alphaModFix/>
          </a:blip>
          <a:srcRect b="0" l="7552" r="5348" t="30734"/>
          <a:stretch/>
        </p:blipFill>
        <p:spPr>
          <a:xfrm>
            <a:off x="399800" y="1882075"/>
            <a:ext cx="5238751" cy="342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532180"/>
            <a:ext cx="54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PRECISION-RECALL BOUNDARY SHIFT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416100" y="5510280"/>
            <a:ext cx="54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STRICT 90% THRESHOLD VALIDATION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887610"/>
            <a:ext cx="71908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SCREENSHOTS: EVALUATION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887610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8" title="Screenshot 2026-06-14 143516.png"/>
          <p:cNvPicPr preferRelativeResize="0"/>
          <p:nvPr/>
        </p:nvPicPr>
        <p:blipFill rotWithShape="1">
          <a:blip r:embed="rId4">
            <a:alphaModFix/>
          </a:blip>
          <a:srcRect b="0" l="0" r="3391" t="0"/>
          <a:stretch/>
        </p:blipFill>
        <p:spPr>
          <a:xfrm>
            <a:off x="184500" y="1717925"/>
            <a:ext cx="6006749" cy="36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Screenshot 2026-06-14 1435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5705" y="2528925"/>
            <a:ext cx="5110175" cy="2696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964517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Architecting Time-Series Resilience 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1677950"/>
            <a:ext cx="108285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Overcoming Asynchronous Data Fragmentation: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Traditional row-by-row data merging fails because video telemetry logs at a constant 1Hz frequency, whereas system logs are strictly event-driven (e.g., triggering only when a tab switches). By implementing a retrospective temporal alignment (pd.merge_asof with a backward direction), the pipeline successfully unifies these disparate streams into a synchronized time-series framework without dropping critical anomalies.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Mathematical Jitter &amp; Noise Filtering: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Human behaviors include harmless micro-movements like sneezing, blinking, or shifting posture, which legacy proctoring platforms blindly flag as cheating. To prevent these false positives, the pipeline applies a 10-second rolling window window function (rolling.mean() and rolling.max()). This smooths out short-duration sensor noise, forcing the machine learning classifier to only track sustained, statistically significant behavioral trends.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Mitigating Extreme Class Imbalance: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Because roughly 98% of the dataset consists of honest student behavior, standard accuracy is a deceptive metric. The architecture resolves this by introducing explicit class-weights (class_weight='balanced') into the Random Forest model, heavily penalizing the misclassification of minority cheating events and compelling the algorithm to learn precise signatures of dishonesty.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76525" y="311435"/>
            <a:ext cx="75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REPORT: TECHNICAL ANALYSIS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313685"/>
            <a:ext cx="5730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316795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GO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46335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DEPLOYMENT STATUS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34125" y="297745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100% Precision Achieved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334125" y="352990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prioritizing the Precision-Recall tradeoff, we ensured the proctoring AI only flags suspicious behavior when it is mathematically certain.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34125" y="457765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resolves the university board's ethical concerns regarding "accidental triggers" and sensor noise.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887610"/>
            <a:ext cx="6600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REPORT: FINAL OUTCOME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887610"/>
            <a:ext cx="5715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-47625" y="0"/>
            <a:ext cx="12287250" cy="685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